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7"/>
              </a:gs>
              <a:gs pos="100000">
                <a:srgbClr val="F2E8D5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6633"/>
                </a:solidFill>
              </a:defRPr>
            </a:pPr>
            <a:r>
              <a:t>AutoSlide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502920"/>
            <a:ext cx="1005840" cy="1005840"/>
          </a:xfrm>
          <a:prstGeom prst="ellipse">
            <a:avLst/>
          </a:prstGeom>
          <a:noFill/>
          <a:ln w="25400">
            <a:solidFill>
              <a:srgbClr val="F3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5120640"/>
            <a:ext cx="1828800" cy="1828800"/>
          </a:xfrm>
          <a:prstGeom prst="ellipse">
            <a:avLst/>
          </a:prstGeom>
          <a:solidFill>
            <a:srgbClr val="E6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noFill/>
          <a:ln w="38100">
            <a:solidFill>
              <a:srgbClr val="E6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480560"/>
            <a:ext cx="3840480" cy="3840480"/>
          </a:xfrm>
          <a:prstGeom prst="ellipse">
            <a:avLst/>
          </a:prstGeom>
          <a:solidFill>
            <a:srgbClr val="F3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600" b="1">
                <a:solidFill>
                  <a:srgbClr val="663300"/>
                </a:solidFill>
              </a:defRPr>
            </a:pPr>
            <a:r>
              <a:t>Transformer 架构详解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27448" y="3749039"/>
            <a:ext cx="2743200" cy="54864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996633"/>
                </a:solidFill>
              </a:defRPr>
            </a:pPr>
            <a:r>
              <a:t>从注意力机制到预训练模型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7"/>
              </a:gs>
              <a:gs pos="100000">
                <a:srgbClr val="F2E8D5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6633"/>
                </a:solidFill>
              </a:defRPr>
            </a:pPr>
            <a:r>
              <a:t>AutoSlide</a:t>
            </a:r>
          </a:p>
        </p:txBody>
      </p:sp>
      <p:sp>
        <p:nvSpPr>
          <p:cNvPr id="9" name="Oval 8"/>
          <p:cNvSpPr/>
          <p:nvPr/>
        </p:nvSpPr>
        <p:spPr>
          <a:xfrm>
            <a:off x="652033" y="815633"/>
            <a:ext cx="310896" cy="310896"/>
          </a:xfrm>
          <a:prstGeom prst="ellipse">
            <a:avLst/>
          </a:prstGeom>
          <a:solidFill>
            <a:srgbClr val="E7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92024" y="4641809"/>
            <a:ext cx="1097280" cy="1097280"/>
          </a:xfrm>
          <a:prstGeom prst="ellipse">
            <a:avLst/>
          </a:prstGeom>
          <a:noFill/>
          <a:ln w="25400">
            <a:solidFill>
              <a:srgbClr val="FAE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46956" y="5633980"/>
            <a:ext cx="1128694" cy="1435695"/>
          </a:xfrm>
          <a:prstGeom prst="ellipse">
            <a:avLst/>
          </a:prstGeom>
          <a:solidFill>
            <a:srgbClr val="E4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85926" y="4805190"/>
            <a:ext cx="2832226" cy="2965598"/>
          </a:xfrm>
          <a:prstGeom prst="ellipse">
            <a:avLst/>
          </a:prstGeom>
          <a:solidFill>
            <a:srgbClr val="FAE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663300"/>
                </a:solidFill>
              </a:defRPr>
            </a:pPr>
            <a:r>
              <a:t>注意力机制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D2823"/>
                </a:solidFill>
              </a:defRPr>
            </a:pPr>
            <a:r>
              <a:t>自注意力机制通过 QKV 三组投影计算序列内任意位置间的相关性，多头注意力并行捕捉不同子空间的特征。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Self-Attention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多头注意力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位置编码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7"/>
              </a:gs>
              <a:gs pos="100000">
                <a:srgbClr val="F2E8D5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6633"/>
                </a:solidFill>
              </a:defRPr>
            </a:pPr>
            <a:r>
              <a:t>AutoSlide</a:t>
            </a:r>
          </a:p>
        </p:txBody>
      </p:sp>
      <p:sp>
        <p:nvSpPr>
          <p:cNvPr id="10" name="Oval 9"/>
          <p:cNvSpPr/>
          <p:nvPr/>
        </p:nvSpPr>
        <p:spPr>
          <a:xfrm>
            <a:off x="697807" y="366648"/>
            <a:ext cx="310896" cy="310896"/>
          </a:xfrm>
          <a:prstGeom prst="ellipse">
            <a:avLst/>
          </a:prstGeom>
          <a:solidFill>
            <a:srgbClr val="EBD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9098280" y="4343400"/>
            <a:ext cx="640080" cy="1463040"/>
          </a:xfrm>
          <a:prstGeom prst="upArrow">
            <a:avLst/>
          </a:prstGeom>
          <a:solidFill>
            <a:srgbClr val="9F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4618704"/>
            <a:ext cx="237744" cy="1324895"/>
          </a:xfrm>
          <a:prstGeom prst="rect">
            <a:avLst/>
          </a:prstGeom>
          <a:solidFill>
            <a:srgbClr val="DA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4928644"/>
            <a:ext cx="237744" cy="1014955"/>
          </a:xfrm>
          <a:prstGeom prst="rect">
            <a:avLst/>
          </a:prstGeom>
          <a:solidFill>
            <a:srgbClr val="9F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4206925"/>
            <a:ext cx="237744" cy="1736674"/>
          </a:xfrm>
          <a:prstGeom prst="rect">
            <a:avLst/>
          </a:prstGeom>
          <a:solidFill>
            <a:srgbClr val="DA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663300"/>
                </a:solidFill>
              </a:defRPr>
            </a:pPr>
            <a:r>
              <a:t>预训练与微调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D2823"/>
                </a:solidFill>
              </a:defRPr>
            </a:pPr>
            <a:r>
              <a:t>预训练阶段在海量无标注语料上学习通用表示，微调阶段在下游任务上以少量标注数据适配。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自回归预训练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掩码语言模型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下游微调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7"/>
              </a:gs>
              <a:gs pos="100000">
                <a:srgbClr val="F2E8D5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6633"/>
                </a:solidFill>
              </a:defRPr>
            </a:pPr>
            <a:r>
              <a:t>AutoSlide</a:t>
            </a:r>
          </a:p>
        </p:txBody>
      </p:sp>
      <p:sp>
        <p:nvSpPr>
          <p:cNvPr id="10" name="Oval 9"/>
          <p:cNvSpPr/>
          <p:nvPr/>
        </p:nvSpPr>
        <p:spPr>
          <a:xfrm>
            <a:off x="724295" y="485915"/>
            <a:ext cx="310896" cy="310896"/>
          </a:xfrm>
          <a:prstGeom prst="ellipse">
            <a:avLst/>
          </a:prstGeom>
          <a:solidFill>
            <a:srgbClr val="E8D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0" y="5989320"/>
            <a:ext cx="1630442" cy="64008"/>
          </a:xfrm>
          <a:prstGeom prst="rect">
            <a:avLst/>
          </a:prstGeom>
          <a:solidFill>
            <a:srgbClr val="DA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0" y="5669280"/>
            <a:ext cx="1759369" cy="64008"/>
          </a:xfrm>
          <a:prstGeom prst="rect">
            <a:avLst/>
          </a:prstGeom>
          <a:solidFill>
            <a:srgbClr val="DA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0" y="5349240"/>
            <a:ext cx="2130445" cy="64008"/>
          </a:xfrm>
          <a:prstGeom prst="rect">
            <a:avLst/>
          </a:prstGeom>
          <a:solidFill>
            <a:srgbClr val="DA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0" y="5029200"/>
            <a:ext cx="2333478" cy="64008"/>
          </a:xfrm>
          <a:prstGeom prst="rect">
            <a:avLst/>
          </a:prstGeom>
          <a:solidFill>
            <a:srgbClr val="956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663300"/>
                </a:solidFill>
              </a:defRPr>
            </a:pPr>
            <a:r>
              <a:t>参考文献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000" b="0">
                <a:solidFill>
                  <a:srgbClr val="2D2823"/>
                </a:solidFill>
              </a:defRPr>
            </a:pPr>
            <a:r>
              <a:t>[1] Vaswani A, Shazeer N, Parmar N, et al. Attention is All You Need. NeurIPS, 2017.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000" b="0">
                <a:solidFill>
                  <a:srgbClr val="2D2823"/>
                </a:solidFill>
              </a:defRPr>
            </a:pPr>
            <a:r>
              <a:t>[2] Devlin J, Chang M W, Lee K, et al. BERT: Pre-training of Deep Bidirectional Transformers for Language Understanding. NAACL, 2019.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000" b="0">
                <a:solidFill>
                  <a:srgbClr val="2D2823"/>
                </a:solidFill>
              </a:defRPr>
            </a:pPr>
            <a:r>
              <a:t>[3] Brown T, Mann B, Ryder N, et al. Language Models are Few-Shot Learners. NeurIPS,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