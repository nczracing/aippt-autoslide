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6699"/>
                </a:solidFill>
              </a:defRPr>
            </a:pPr>
            <a:r>
              <a:t>AutoSlide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502920"/>
            <a:ext cx="1005840" cy="1005840"/>
          </a:xfrm>
          <a:prstGeom prst="ellipse">
            <a:avLst/>
          </a:prstGeom>
          <a:noFill/>
          <a:ln w="25400"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0" y="5120640"/>
            <a:ext cx="1828800" cy="1828800"/>
          </a:xfrm>
          <a:prstGeom prst="ellipse">
            <a:avLst/>
          </a:prstGeom>
          <a:solidFill>
            <a:srgbClr val="DDE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1188720"/>
            <a:ext cx="3657600" cy="3657600"/>
          </a:xfrm>
          <a:prstGeom prst="ellipse">
            <a:avLst/>
          </a:prstGeom>
          <a:noFill/>
          <a:ln w="38100">
            <a:solidFill>
              <a:srgbClr val="DDED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480560"/>
            <a:ext cx="3840480" cy="3840480"/>
          </a:xfrm>
          <a:prstGeom prst="ellipse">
            <a:avLst/>
          </a:prstGeom>
          <a:solidFill>
            <a:srgbClr val="B8C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>
              <a:defRPr sz="4600" b="1">
                <a:solidFill>
                  <a:srgbClr val="003366"/>
                </a:solidFill>
              </a:defRPr>
            </a:pPr>
            <a:r>
              <a:t>软件工程职业规划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27448" y="3749039"/>
            <a:ext cx="274320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336699"/>
                </a:solidFill>
              </a:defRPr>
            </a:pPr>
            <a:r>
              <a:t>从竞赛到工程的长期成长路线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Rectangle 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6699"/>
                </a:solidFill>
              </a:defRPr>
            </a:pPr>
            <a:r>
              <a:t>AutoSlide</a:t>
            </a:r>
          </a:p>
        </p:txBody>
      </p:sp>
      <p:sp>
        <p:nvSpPr>
          <p:cNvPr id="19" name="Oval 18"/>
          <p:cNvSpPr/>
          <p:nvPr/>
        </p:nvSpPr>
        <p:spPr>
          <a:xfrm>
            <a:off x="549228" y="816741"/>
            <a:ext cx="310896" cy="310896"/>
          </a:xfrm>
          <a:prstGeom prst="ellipse">
            <a:avLst/>
          </a:prstGeom>
          <a:solidFill>
            <a:srgbClr val="CDE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0" y="4389120"/>
            <a:ext cx="1554480" cy="1554480"/>
          </a:xfrm>
          <a:prstGeom prst="ellipse">
            <a:avLst/>
          </a:prstGeom>
          <a:noFill/>
          <a:ln w="31750">
            <a:solidFill>
              <a:srgbClr val="C2D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36224" y="5614416"/>
            <a:ext cx="137160" cy="137160"/>
          </a:xfrm>
          <a:prstGeom prst="ellipse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52176" y="5614416"/>
            <a:ext cx="137160" cy="137160"/>
          </a:xfrm>
          <a:prstGeom prst="ellipse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68128" y="5614416"/>
            <a:ext cx="137160" cy="137160"/>
          </a:xfrm>
          <a:prstGeom prst="ellipse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0" y="5614416"/>
            <a:ext cx="137160" cy="137160"/>
          </a:xfrm>
          <a:prstGeom prst="ellipse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36224" y="5230368"/>
            <a:ext cx="137160" cy="137160"/>
          </a:xfrm>
          <a:prstGeom prst="ellipse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52176" y="5230368"/>
            <a:ext cx="137160" cy="137160"/>
          </a:xfrm>
          <a:prstGeom prst="ellipse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68128" y="5230368"/>
            <a:ext cx="137160" cy="137160"/>
          </a:xfrm>
          <a:prstGeom prst="ellipse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0" y="5230368"/>
            <a:ext cx="137160" cy="137160"/>
          </a:xfrm>
          <a:prstGeom prst="ellipse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36224" y="4846320"/>
            <a:ext cx="137160" cy="137160"/>
          </a:xfrm>
          <a:prstGeom prst="ellipse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52176" y="4846320"/>
            <a:ext cx="137160" cy="137160"/>
          </a:xfrm>
          <a:prstGeom prst="ellipse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68128" y="4846320"/>
            <a:ext cx="137160" cy="137160"/>
          </a:xfrm>
          <a:prstGeom prst="ellipse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4846320"/>
            <a:ext cx="137160" cy="137160"/>
          </a:xfrm>
          <a:prstGeom prst="ellipse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个人定位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58368" y="1344486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通过三年竞赛与项目历练，我明确了自身定位：以扎实的算法基础为底盘，聚焦后端与系统方向，兼顾工程落地能力，追求可持续的长期成长而非短期投机。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兴趣方向：后端工程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能力盘点：算法与系统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价值观：长期主义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Rectangle 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6699"/>
                </a:solidFill>
              </a:defRPr>
            </a:pPr>
            <a:r>
              <a:t>AutoSlide</a:t>
            </a:r>
          </a:p>
        </p:txBody>
      </p:sp>
      <p:sp>
        <p:nvSpPr>
          <p:cNvPr id="20" name="Oval 19"/>
          <p:cNvSpPr/>
          <p:nvPr/>
        </p:nvSpPr>
        <p:spPr>
          <a:xfrm>
            <a:off x="11611899" y="457507"/>
            <a:ext cx="310896" cy="310896"/>
          </a:xfrm>
          <a:prstGeom prst="ellipse">
            <a:avLst/>
          </a:prstGeom>
          <a:solidFill>
            <a:srgbClr val="BFD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0" y="4389120"/>
            <a:ext cx="1554480" cy="1554480"/>
          </a:xfrm>
          <a:prstGeom prst="ellipse">
            <a:avLst/>
          </a:prstGeom>
          <a:noFill/>
          <a:ln w="31750">
            <a:solidFill>
              <a:srgbClr val="CEE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36224" y="5614416"/>
            <a:ext cx="137160" cy="137160"/>
          </a:xfrm>
          <a:prstGeom prst="ellipse">
            <a:avLst/>
          </a:prstGeom>
          <a:solidFill>
            <a:srgbClr val="3E7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52176" y="5614416"/>
            <a:ext cx="137160" cy="137160"/>
          </a:xfrm>
          <a:prstGeom prst="ellipse">
            <a:avLst/>
          </a:prstGeom>
          <a:solidFill>
            <a:srgbClr val="3E7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68128" y="5614416"/>
            <a:ext cx="137160" cy="137160"/>
          </a:xfrm>
          <a:prstGeom prst="ellipse">
            <a:avLst/>
          </a:prstGeom>
          <a:solidFill>
            <a:srgbClr val="3E7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0" y="5614416"/>
            <a:ext cx="137160" cy="137160"/>
          </a:xfrm>
          <a:prstGeom prst="ellipse">
            <a:avLst/>
          </a:prstGeom>
          <a:solidFill>
            <a:srgbClr val="3E7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36224" y="5230368"/>
            <a:ext cx="137160" cy="137160"/>
          </a:xfrm>
          <a:prstGeom prst="ellipse">
            <a:avLst/>
          </a:prstGeom>
          <a:solidFill>
            <a:srgbClr val="3E7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52176" y="5230368"/>
            <a:ext cx="137160" cy="137160"/>
          </a:xfrm>
          <a:prstGeom prst="ellipse">
            <a:avLst/>
          </a:prstGeom>
          <a:solidFill>
            <a:srgbClr val="3E7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68128" y="5230368"/>
            <a:ext cx="137160" cy="137160"/>
          </a:xfrm>
          <a:prstGeom prst="ellipse">
            <a:avLst/>
          </a:prstGeom>
          <a:solidFill>
            <a:srgbClr val="3E7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84080" y="5230368"/>
            <a:ext cx="137160" cy="137160"/>
          </a:xfrm>
          <a:prstGeom prst="ellipse">
            <a:avLst/>
          </a:prstGeom>
          <a:solidFill>
            <a:srgbClr val="3E7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36224" y="4846320"/>
            <a:ext cx="137160" cy="137160"/>
          </a:xfrm>
          <a:prstGeom prst="ellipse">
            <a:avLst/>
          </a:prstGeom>
          <a:solidFill>
            <a:srgbClr val="3E7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52176" y="4846320"/>
            <a:ext cx="137160" cy="137160"/>
          </a:xfrm>
          <a:prstGeom prst="ellipse">
            <a:avLst/>
          </a:prstGeom>
          <a:solidFill>
            <a:srgbClr val="3E7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68128" y="4846320"/>
            <a:ext cx="137160" cy="137160"/>
          </a:xfrm>
          <a:prstGeom prst="ellipse">
            <a:avLst/>
          </a:prstGeom>
          <a:solidFill>
            <a:srgbClr val="3E7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0" y="4846320"/>
            <a:ext cx="137160" cy="137160"/>
          </a:xfrm>
          <a:prstGeom prst="ellipse">
            <a:avLst/>
          </a:prstGeom>
          <a:solidFill>
            <a:srgbClr val="3E7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发展路径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发展路径存在三种选择：技术路线追求专业纵深，管理路线强调团队与资源整合，复合路线以 T 型能力兼顾两者。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技术路线：纵深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管理路线：横向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复合路线：T 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1344486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