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CAD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BF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36224" y="5614416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36224" y="5230368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36224" y="4846320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265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AI驱动的智能PPT生成工具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AutoSlide v2.0 — 内容感知排版与动画系统</a:t>
            </a:r>
          </a:p>
        </p:txBody>
      </p:sp>
    </p:spTree>
  </p:cSld>
  <p:clrMapOvr>
    <a:masterClrMapping/>
  </p:clrMapOvr>
  <p:transition spd="slow" advClick="1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30000" y="228600"/>
            <a:ext cx="457200" cy="457200"/>
          </a:xfrm>
          <a:prstGeom prst="ellipse">
            <a:avLst/>
          </a:prstGeom>
          <a:noFill/>
          <a:ln w="19050"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B8C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p Arrow 9"/>
          <p:cNvSpPr/>
          <p:nvPr/>
        </p:nvSpPr>
        <p:spPr>
          <a:xfrm>
            <a:off x="9098280" y="4343400"/>
            <a:ext cx="640080" cy="1463040"/>
          </a:xfrm>
          <a:prstGeom prst="upArrow">
            <a:avLst/>
          </a:prstGeom>
          <a:solidFill>
            <a:srgbClr val="2B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35640" y="5234498"/>
            <a:ext cx="237744" cy="709101"/>
          </a:xfrm>
          <a:prstGeom prst="rect">
            <a:avLst/>
          </a:prstGeom>
          <a:solidFill>
            <a:srgbClr val="2B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60" y="4830786"/>
            <a:ext cx="237744" cy="1112813"/>
          </a:xfrm>
          <a:prstGeom prst="rect">
            <a:avLst/>
          </a:prstGeom>
          <a:solidFill>
            <a:srgbClr val="BBC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12680" y="4937978"/>
            <a:ext cx="237744" cy="1005621"/>
          </a:xfrm>
          <a:prstGeom prst="rect">
            <a:avLst/>
          </a:prstGeom>
          <a:solidFill>
            <a:srgbClr val="2B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4618799"/>
            <a:ext cx="237744" cy="1324800"/>
          </a:xfrm>
          <a:prstGeom prst="rect">
            <a:avLst/>
          </a:prstGeom>
          <a:solidFill>
            <a:srgbClr val="BBC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销售数据与增长趋势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基于关键词识别的装饰母题系统，每页背景随内容动态变化。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营收同比增长35%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用户活跃度提升28%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市场份额扩大至12%</a:t>
            </a:r>
          </a:p>
        </p:txBody>
      </p:sp>
    </p:spTree>
  </p:cSld>
  <p:clrMapOvr>
    <a:masterClrMapping/>
  </p:clrMapOvr>
  <p:transition spd="slow" advClick="1">
    <p:push dir="l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81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30000" y="228600"/>
            <a:ext cx="457200" cy="457200"/>
          </a:xfrm>
          <a:prstGeom prst="ellipse">
            <a:avLst/>
          </a:prstGeom>
          <a:noFill/>
          <a:ln w="19050">
            <a:solidFill>
              <a:srgbClr val="B6C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B6C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BDD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3A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系统架构设计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采用微服务架构，支持高并发与弹性扩展。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RESTful API设计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分布式缓存策略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容器化部署方案</a:t>
            </a:r>
          </a:p>
        </p:txBody>
      </p:sp>
    </p:spTree>
  </p:cSld>
  <p:clrMapOvr>
    <a:masterClrMapping/>
  </p:clrMapOvr>
  <p:transition spd="slow" advClick="1">
    <p:wipe dir="l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4320" y="274320"/>
            <a:ext cx="256032" cy="256032"/>
          </a:xfrm>
          <a:prstGeom prst="ellipse">
            <a:avLst/>
          </a:prstGeom>
          <a:solidFill>
            <a:srgbClr val="D3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p Arrow 9"/>
          <p:cNvSpPr/>
          <p:nvPr/>
        </p:nvSpPr>
        <p:spPr>
          <a:xfrm>
            <a:off x="9098280" y="4343400"/>
            <a:ext cx="640080" cy="1463040"/>
          </a:xfrm>
          <a:prstGeom prst="upArrow">
            <a:avLst/>
          </a:prstGeom>
          <a:solidFill>
            <a:srgbClr val="2B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35640" y="4669443"/>
            <a:ext cx="237744" cy="1274156"/>
          </a:xfrm>
          <a:prstGeom prst="rect">
            <a:avLst/>
          </a:prstGeom>
          <a:solidFill>
            <a:srgbClr val="2B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60" y="4325263"/>
            <a:ext cx="237744" cy="1618336"/>
          </a:xfrm>
          <a:prstGeom prst="rect">
            <a:avLst/>
          </a:prstGeom>
          <a:solidFill>
            <a:srgbClr val="C9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12680" y="4907215"/>
            <a:ext cx="237744" cy="1036384"/>
          </a:xfrm>
          <a:prstGeom prst="rect">
            <a:avLst/>
          </a:prstGeom>
          <a:solidFill>
            <a:srgbClr val="2B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5304283"/>
            <a:ext cx="237744" cy="639316"/>
          </a:xfrm>
          <a:prstGeom prst="rect">
            <a:avLst/>
          </a:prstGeom>
          <a:solidFill>
            <a:srgbClr val="C9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项目实施路线图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分阶段推进，确保项目按时交付。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需求分析与规划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原型设计与评审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开发实施阶段</a:t>
            </a:r>
          </a:p>
        </p:txBody>
      </p:sp>
    </p:spTree>
  </p:cSld>
  <p:clrMapOvr>
    <a:masterClrMapping/>
  </p:clrMapOvr>
  <p:transition spd="slow" advClick="1">
    <p:dissolv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" presetID="2" presetClass="entr" presetSubtype="2" fill="hold" grpId="0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ly">
                          <p:cBhvr>
                            <p:cTn id="9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