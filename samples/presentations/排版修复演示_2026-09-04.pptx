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0" y="0"/>
            <a:ext cx="12191695" cy="6858000"/>
          </a:xfrm>
          <a:prstGeom prst="rect">
            <a:avLst/>
          </a:prstGeom>
          <a:gradFill rotWithShape="1">
            <a:gsLst>
              <a:gs pos="0">
                <a:srgbClr val="FFFFFF"/>
              </a:gs>
              <a:gs pos="100000">
                <a:srgbClr val="E6F0FB"/>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355080"/>
            <a:ext cx="3657600" cy="228600"/>
          </a:xfrm>
          <a:prstGeom prst="rect">
            <a:avLst/>
          </a:prstGeom>
          <a:noFill/>
        </p:spPr>
        <p:txBody>
          <a:bodyPr wrap="none">
            <a:spAutoFit/>
          </a:bodyPr>
          <a:lstStyle/>
          <a:p>
            <a:pPr>
              <a:defRPr sz="1000">
                <a:solidFill>
                  <a:srgbClr val="336699"/>
                </a:solidFill>
              </a:defRPr>
            </a:pPr>
            <a:r>
              <a:t>AutoSlide</a:t>
            </a:r>
          </a:p>
        </p:txBody>
      </p:sp>
      <p:sp>
        <p:nvSpPr>
          <p:cNvPr id="9" name="Up Arrow 8"/>
          <p:cNvSpPr/>
          <p:nvPr/>
        </p:nvSpPr>
        <p:spPr>
          <a:xfrm>
            <a:off x="9098280" y="4343400"/>
            <a:ext cx="640080" cy="1463040"/>
          </a:xfrm>
          <a:prstGeom prst="upArrow">
            <a:avLst/>
          </a:prstGeom>
          <a:solidFill>
            <a:srgbClr val="356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424160" y="4913010"/>
            <a:ext cx="237744" cy="1030589"/>
          </a:xfrm>
          <a:prstGeom prst="rect">
            <a:avLst/>
          </a:prstGeom>
          <a:solidFill>
            <a:srgbClr val="B6C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012680" y="4361712"/>
            <a:ext cx="237744" cy="1581887"/>
          </a:xfrm>
          <a:prstGeom prst="rect">
            <a:avLst/>
          </a:prstGeom>
          <a:solidFill>
            <a:srgbClr val="356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0" y="5294114"/>
            <a:ext cx="237744" cy="649485"/>
          </a:xfrm>
          <a:prstGeom prst="rect">
            <a:avLst/>
          </a:prstGeom>
          <a:solidFill>
            <a:srgbClr val="B6C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016"/>
            <a:ext cx="128016" cy="672998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2801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411480"/>
            <a:ext cx="10881360" cy="868680"/>
          </a:xfrm>
        </p:spPr>
        <p:txBody>
          <a:bodyPr wrap="square"/>
          <a:lstStyle/>
          <a:p>
            <a:pPr algn="l">
              <a:defRPr sz="3400" b="1">
                <a:solidFill>
                  <a:srgbClr val="003366"/>
                </a:solidFill>
              </a:defRPr>
            </a:pPr>
            <a:r>
              <a:t>右图布局 · 方形图（保持1:1不变形）</a:t>
            </a:r>
          </a:p>
        </p:txBody>
      </p:sp>
      <p:sp>
        <p:nvSpPr>
          <p:cNvPr id="3" name="Content Placeholder 2"/>
          <p:cNvSpPr>
            <a:spLocks noGrp="1"/>
          </p:cNvSpPr>
          <p:nvPr>
            <p:ph idx="1"/>
          </p:nvPr>
        </p:nvSpPr>
        <p:spPr>
          <a:xfrm>
            <a:off x="4221327" y="1371600"/>
            <a:ext cx="3215487" cy="4983480"/>
          </a:xfrm>
        </p:spPr>
        <p:txBody>
          <a:bodyPr wrap="square"/>
          <a:lstStyle/>
          <a:p/>
        </p:txBody>
      </p:sp>
      <p:sp>
        <p:nvSpPr>
          <p:cNvPr id="12" name="Rectangle 11"/>
          <p:cNvSpPr/>
          <p:nvPr/>
        </p:nvSpPr>
        <p:spPr>
          <a:xfrm>
            <a:off x="658368" y="1207008"/>
            <a:ext cx="2011680" cy="54864"/>
          </a:xfrm>
          <a:prstGeom prst="rect">
            <a:avLst/>
          </a:prstGeom>
          <a:solidFill>
            <a:srgbClr val="33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371600"/>
            <a:ext cx="3215487" cy="4983480"/>
          </a:xfrm>
          <a:prstGeom prst="rect">
            <a:avLst/>
          </a:prstGeom>
          <a:noFill/>
        </p:spPr>
        <p:txBody>
          <a:bodyPr wrap="square">
            <a:spAutoFit/>
          </a:bodyPr>
          <a:lstStyle/>
          <a:p>
            <a:pPr>
              <a:lnSpc>
                <a:spcPct val="130000"/>
              </a:lnSpc>
              <a:spcAft>
                <a:spcPts val="1400"/>
              </a:spcAft>
              <a:defRPr sz="1600">
                <a:solidFill>
                  <a:srgbClr val="282828"/>
                </a:solidFill>
              </a:defRPr>
            </a:pPr>
            <a:r>
              <a:t>图片位于右侧，正文占据左侧安全区。图片与文字之间的间距固定为0.4英寸，视觉平衡且互不干扰。</a:t>
            </a:r>
          </a:p>
          <a:p>
            <a:pPr>
              <a:lnSpc>
                <a:spcPct val="120000"/>
              </a:lnSpc>
              <a:spcAft>
                <a:spcPts val="1000"/>
              </a:spcAft>
              <a:defRPr sz="1800" b="1">
                <a:solidFill>
                  <a:srgbClr val="336699"/>
                </a:solidFill>
              </a:defRPr>
            </a:pPr>
            <a:r>
              <a:t>• 图片按原始比例缩放，不再拉伸变形</a:t>
            </a:r>
          </a:p>
          <a:p>
            <a:pPr>
              <a:lnSpc>
                <a:spcPct val="120000"/>
              </a:lnSpc>
              <a:spcAft>
                <a:spcPts val="1000"/>
              </a:spcAft>
              <a:defRPr sz="1800" b="1">
                <a:solidFill>
                  <a:srgbClr val="336699"/>
                </a:solidFill>
              </a:defRPr>
            </a:pPr>
            <a:r>
              <a:t>• 正文框自动避开图片区域</a:t>
            </a:r>
          </a:p>
          <a:p>
            <a:pPr>
              <a:lnSpc>
                <a:spcPct val="120000"/>
              </a:lnSpc>
              <a:spcAft>
                <a:spcPts val="1000"/>
              </a:spcAft>
              <a:defRPr sz="1800" b="1">
                <a:solidFill>
                  <a:srgbClr val="336699"/>
                </a:solidFill>
              </a:defRPr>
            </a:pPr>
            <a:r>
              <a:t>• 要点超出容量时字号逐级缩小</a:t>
            </a:r>
          </a:p>
          <a:p>
            <a:pPr>
              <a:lnSpc>
                <a:spcPct val="120000"/>
              </a:lnSpc>
              <a:spcAft>
                <a:spcPts val="1000"/>
              </a:spcAft>
              <a:defRPr sz="1800" b="1">
                <a:solidFill>
                  <a:srgbClr val="336699"/>
                </a:solidFill>
              </a:defRPr>
            </a:pPr>
            <a:r>
              <a:t>• 此页为典型内容量，字号保持原始大小</a:t>
            </a:r>
          </a:p>
        </p:txBody>
      </p:sp>
      <p:pic>
        <p:nvPicPr>
          <p:cNvPr id="14" name="Picture 13" descr="_demo_square.png"/>
          <p:cNvPicPr>
            <a:picLocks noChangeAspect="1"/>
          </p:cNvPicPr>
          <p:nvPr/>
        </p:nvPicPr>
        <p:blipFill>
          <a:blip r:embed="rId2"/>
          <a:stretch>
            <a:fillRect/>
          </a:stretch>
        </p:blipFill>
        <p:spPr>
          <a:xfrm>
            <a:off x="7802575" y="1371600"/>
            <a:ext cx="4114800" cy="4114800"/>
          </a:xfrm>
          <a:prstGeom prst="rect">
            <a:avLst/>
          </a:prstGeom>
          <a:ln w="15875">
            <a:solidFill>
              <a:srgbClr val="336699"/>
            </a:solidFill>
          </a:ln>
        </p:spPr>
      </p:pic>
    </p:spTree>
  </p:cSld>
  <p:clrMapOvr>
    <a:masterClrMapping/>
  </p:clrMapOvr>
  <p:sldTrans>
    <p:transition advClick="0" advTime="0" soundEnabled="0" loop="1">
      <p:fadeEffect dir="in">
        <p:dur val="200"/>
      </p:fadeEffect>
    </p:transition>
  </p:sldTrans>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Rectangle 8"/>
          <p:cNvSpPr/>
          <p:nvPr/>
        </p:nvSpPr>
        <p:spPr>
          <a:xfrm>
            <a:off x="0" y="0"/>
            <a:ext cx="12191695" cy="6858000"/>
          </a:xfrm>
          <a:prstGeom prst="rect">
            <a:avLst/>
          </a:prstGeom>
          <a:gradFill rotWithShape="1">
            <a:gsLst>
              <a:gs pos="0">
                <a:srgbClr val="FFFFFF"/>
              </a:gs>
              <a:gs pos="100000">
                <a:srgbClr val="E6F0FB"/>
              </a:gs>
            </a:gsLst>
            <a:lin ang="27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55080"/>
            <a:ext cx="3657600" cy="228600"/>
          </a:xfrm>
          <a:prstGeom prst="rect">
            <a:avLst/>
          </a:prstGeom>
          <a:noFill/>
        </p:spPr>
        <p:txBody>
          <a:bodyPr wrap="none">
            <a:spAutoFit/>
          </a:bodyPr>
          <a:lstStyle/>
          <a:p>
            <a:pPr>
              <a:defRPr sz="1000">
                <a:solidFill>
                  <a:srgbClr val="336699"/>
                </a:solidFill>
              </a:defRPr>
            </a:pPr>
            <a:r>
              <a:t>AutoSlide</a:t>
            </a:r>
          </a:p>
        </p:txBody>
      </p:sp>
      <p:sp>
        <p:nvSpPr>
          <p:cNvPr id="7" name="Oval 6"/>
          <p:cNvSpPr/>
          <p:nvPr/>
        </p:nvSpPr>
        <p:spPr>
          <a:xfrm>
            <a:off x="8267011" y="5709736"/>
            <a:ext cx="1162952" cy="1489856"/>
          </a:xfrm>
          <a:prstGeom prst="ellipse">
            <a:avLst/>
          </a:prstGeom>
          <a:solidFill>
            <a:srgbClr val="D9E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50116" y="4921441"/>
            <a:ext cx="2381334" cy="2798272"/>
          </a:xfrm>
          <a:prstGeom prst="ellipse">
            <a:avLst/>
          </a:prstGeom>
          <a:solidFill>
            <a:srgbClr val="CAD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016"/>
            <a:ext cx="128016" cy="672998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2801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411480"/>
            <a:ext cx="10881360" cy="868680"/>
          </a:xfrm>
        </p:spPr>
        <p:txBody>
          <a:bodyPr wrap="square"/>
          <a:lstStyle/>
          <a:p>
            <a:pPr algn="l">
              <a:defRPr sz="3400" b="1">
                <a:solidFill>
                  <a:srgbClr val="003366"/>
                </a:solidFill>
              </a:defRPr>
            </a:pPr>
            <a:r>
              <a:t>左图布局 · 高图（2:3竖版）</a:t>
            </a:r>
          </a:p>
        </p:txBody>
      </p:sp>
      <p:sp>
        <p:nvSpPr>
          <p:cNvPr id="3" name="Content Placeholder 2"/>
          <p:cNvSpPr>
            <a:spLocks noGrp="1"/>
          </p:cNvSpPr>
          <p:nvPr>
            <p:ph idx="1"/>
          </p:nvPr>
        </p:nvSpPr>
        <p:spPr>
          <a:xfrm>
            <a:off x="7581747" y="1371600"/>
            <a:ext cx="4152747" cy="4983480"/>
          </a:xfrm>
        </p:spPr>
        <p:txBody>
          <a:bodyPr wrap="square"/>
          <a:lstStyle/>
          <a:p/>
        </p:txBody>
      </p:sp>
      <p:sp>
        <p:nvSpPr>
          <p:cNvPr id="10" name="Rectangle 9"/>
          <p:cNvSpPr/>
          <p:nvPr/>
        </p:nvSpPr>
        <p:spPr>
          <a:xfrm>
            <a:off x="658368" y="1207008"/>
            <a:ext cx="2011680" cy="54864"/>
          </a:xfrm>
          <a:prstGeom prst="rect">
            <a:avLst/>
          </a:prstGeom>
          <a:solidFill>
            <a:srgbClr val="33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63239" y="1371600"/>
            <a:ext cx="4152747" cy="4983480"/>
          </a:xfrm>
          <a:prstGeom prst="rect">
            <a:avLst/>
          </a:prstGeom>
          <a:noFill/>
        </p:spPr>
        <p:txBody>
          <a:bodyPr wrap="square">
            <a:spAutoFit/>
          </a:bodyPr>
          <a:lstStyle/>
          <a:p>
            <a:pPr>
              <a:lnSpc>
                <a:spcPct val="130000"/>
              </a:lnSpc>
              <a:spcAft>
                <a:spcPts val="1400"/>
              </a:spcAft>
              <a:defRPr sz="1600">
                <a:solidFill>
                  <a:srgbClr val="282828"/>
                </a:solidFill>
              </a:defRPr>
            </a:pPr>
            <a:r>
              <a:t>高图在左侧垂直居中，正文框从图片右边缘加0.4英寸处开始，一直延伸到幻灯片右边界内0.5英寸。</a:t>
            </a:r>
          </a:p>
          <a:p>
            <a:pPr>
              <a:lnSpc>
                <a:spcPct val="120000"/>
              </a:lnSpc>
              <a:spcAft>
                <a:spcPts val="1000"/>
              </a:spcAft>
              <a:defRPr sz="1800" b="1">
                <a:solidFill>
                  <a:srgbClr val="336699"/>
                </a:solidFill>
              </a:defRPr>
            </a:pPr>
            <a:r>
              <a:t>• 竖版图片高度上限5.3英寸</a:t>
            </a:r>
          </a:p>
          <a:p>
            <a:pPr>
              <a:lnSpc>
                <a:spcPct val="120000"/>
              </a:lnSpc>
              <a:spcAft>
                <a:spcPts val="1000"/>
              </a:spcAft>
              <a:defRPr sz="1800" b="1">
                <a:solidFill>
                  <a:srgbClr val="336699"/>
                </a:solidFill>
              </a:defRPr>
            </a:pPr>
            <a:r>
              <a:t>• 正文整体右移至图片右侧</a:t>
            </a:r>
          </a:p>
          <a:p>
            <a:pPr>
              <a:lnSpc>
                <a:spcPct val="120000"/>
              </a:lnSpc>
              <a:spcAft>
                <a:spcPts val="1000"/>
              </a:spcAft>
              <a:defRPr sz="1800" b="1">
                <a:solidFill>
                  <a:srgbClr val="336699"/>
                </a:solidFill>
              </a:defRPr>
            </a:pPr>
            <a:r>
              <a:t>• 标题区0.45至1.45英寸不受图片侵入</a:t>
            </a:r>
          </a:p>
          <a:p>
            <a:pPr>
              <a:lnSpc>
                <a:spcPct val="120000"/>
              </a:lnSpc>
              <a:spcAft>
                <a:spcPts val="1000"/>
              </a:spcAft>
              <a:defRPr sz="1800" b="1">
                <a:solidFill>
                  <a:srgbClr val="336699"/>
                </a:solidFill>
              </a:defRPr>
            </a:pPr>
            <a:r>
              <a:t>• 本页验证left模式无重叠</a:t>
            </a:r>
          </a:p>
        </p:txBody>
      </p:sp>
      <p:pic>
        <p:nvPicPr>
          <p:cNvPr id="12" name="Picture 11" descr="_demo_tall.png"/>
          <p:cNvPicPr>
            <a:picLocks noChangeAspect="1"/>
          </p:cNvPicPr>
          <p:nvPr/>
        </p:nvPicPr>
        <p:blipFill>
          <a:blip r:embed="rId2"/>
          <a:stretch>
            <a:fillRect/>
          </a:stretch>
        </p:blipFill>
        <p:spPr>
          <a:xfrm>
            <a:off x="274320" y="1325880"/>
            <a:ext cx="2423160" cy="4846320"/>
          </a:xfrm>
          <a:prstGeom prst="rect">
            <a:avLst/>
          </a:prstGeom>
          <a:ln w="15875">
            <a:solidFill>
              <a:srgbClr val="336699"/>
            </a:solidFill>
          </a:ln>
        </p:spPr>
      </p:pic>
    </p:spTree>
  </p:cSld>
  <p:clrMapOvr>
    <a:masterClrMapping/>
  </p:clrMapOvr>
  <p:sldTrans>
    <p:transition advClick="0" advTime="0" soundEnabled="0" loop="1">
      <p:pushEffect dir="in">
        <p:dur val="200"/>
      </p:pushEffect>
    </p:transition>
  </p:sldTrans>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Rectangle 8"/>
          <p:cNvSpPr/>
          <p:nvPr/>
        </p:nvSpPr>
        <p:spPr>
          <a:xfrm>
            <a:off x="0" y="0"/>
            <a:ext cx="12191695" cy="6858000"/>
          </a:xfrm>
          <a:prstGeom prst="rect">
            <a:avLst/>
          </a:prstGeom>
          <a:gradFill rotWithShape="1">
            <a:gsLst>
              <a:gs pos="0">
                <a:srgbClr val="FFFFFF"/>
              </a:gs>
              <a:gs pos="100000">
                <a:srgbClr val="E6F0FB"/>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55080"/>
            <a:ext cx="3657600" cy="228600"/>
          </a:xfrm>
          <a:prstGeom prst="rect">
            <a:avLst/>
          </a:prstGeom>
          <a:noFill/>
        </p:spPr>
        <p:txBody>
          <a:bodyPr wrap="none">
            <a:spAutoFit/>
          </a:bodyPr>
          <a:lstStyle/>
          <a:p>
            <a:pPr>
              <a:defRPr sz="1000">
                <a:solidFill>
                  <a:srgbClr val="336699"/>
                </a:solidFill>
              </a:defRPr>
            </a:pPr>
            <a:r>
              <a:t>AutoSlide</a:t>
            </a:r>
          </a:p>
        </p:txBody>
      </p:sp>
      <p:sp>
        <p:nvSpPr>
          <p:cNvPr id="7" name="Oval 6"/>
          <p:cNvSpPr/>
          <p:nvPr/>
        </p:nvSpPr>
        <p:spPr>
          <a:xfrm>
            <a:off x="8451484" y="5558013"/>
            <a:ext cx="1206136" cy="1144016"/>
          </a:xfrm>
          <a:prstGeom prst="ellipse">
            <a:avLst/>
          </a:prstGeom>
          <a:solidFill>
            <a:srgbClr val="D2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883719" y="5017649"/>
            <a:ext cx="2795372" cy="2653648"/>
          </a:xfrm>
          <a:prstGeom prst="ellipse">
            <a:avLst/>
          </a:prstGeom>
          <a:solidFill>
            <a:srgbClr val="D0E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016"/>
            <a:ext cx="128016" cy="672998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2801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411480"/>
            <a:ext cx="10881360" cy="868680"/>
          </a:xfrm>
        </p:spPr>
        <p:txBody>
          <a:bodyPr wrap="square"/>
          <a:lstStyle/>
          <a:p>
            <a:pPr algn="l">
              <a:defRPr sz="3400" b="1">
                <a:solidFill>
                  <a:srgbClr val="003366"/>
                </a:solidFill>
              </a:defRPr>
            </a:pPr>
            <a:r>
              <a:t>顶图布局 · 宽图（2:1横版）</a:t>
            </a:r>
          </a:p>
        </p:txBody>
      </p:sp>
      <p:sp>
        <p:nvSpPr>
          <p:cNvPr id="3" name="Content Placeholder 2"/>
          <p:cNvSpPr>
            <a:spLocks noGrp="1"/>
          </p:cNvSpPr>
          <p:nvPr>
            <p:ph idx="1"/>
          </p:nvPr>
        </p:nvSpPr>
        <p:spPr>
          <a:xfrm>
            <a:off x="6278727" y="3749039"/>
            <a:ext cx="5272887" cy="2606040"/>
          </a:xfrm>
        </p:spPr>
        <p:txBody>
          <a:bodyPr wrap="square"/>
          <a:lstStyle/>
          <a:p/>
        </p:txBody>
      </p:sp>
      <p:sp>
        <p:nvSpPr>
          <p:cNvPr id="10" name="Rectangle 9"/>
          <p:cNvSpPr/>
          <p:nvPr/>
        </p:nvSpPr>
        <p:spPr>
          <a:xfrm>
            <a:off x="658368" y="1207008"/>
            <a:ext cx="2011680" cy="54864"/>
          </a:xfrm>
          <a:prstGeom prst="rect">
            <a:avLst/>
          </a:prstGeom>
          <a:solidFill>
            <a:srgbClr val="33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749039"/>
            <a:ext cx="5272887" cy="2606040"/>
          </a:xfrm>
          <a:prstGeom prst="rect">
            <a:avLst/>
          </a:prstGeom>
          <a:noFill/>
        </p:spPr>
        <p:txBody>
          <a:bodyPr wrap="square">
            <a:normAutofit/>
          </a:bodyPr>
          <a:lstStyle/>
          <a:p>
            <a:pPr>
              <a:lnSpc>
                <a:spcPct val="130000"/>
              </a:lnSpc>
              <a:spcAft>
                <a:spcPts val="1400"/>
              </a:spcAft>
              <a:defRPr sz="1400">
                <a:solidFill>
                  <a:srgbClr val="282828"/>
                </a:solidFill>
              </a:defRPr>
            </a:pPr>
            <a:r>
              <a:t>横版宽图位于标题下方居中，正文区从图片底部加0.25英寸处开始，本页验证top模式标题与图片无冲突。</a:t>
            </a:r>
          </a:p>
          <a:p>
            <a:pPr>
              <a:lnSpc>
                <a:spcPct val="120000"/>
              </a:lnSpc>
              <a:spcAft>
                <a:spcPts val="1000"/>
              </a:spcAft>
              <a:defRPr sz="1600" b="1">
                <a:solidFill>
                  <a:srgbClr val="336699"/>
                </a:solidFill>
              </a:defRPr>
            </a:pPr>
            <a:r>
              <a:t>• 顶图不再压住标题区</a:t>
            </a:r>
          </a:p>
          <a:p>
            <a:pPr>
              <a:lnSpc>
                <a:spcPct val="120000"/>
              </a:lnSpc>
              <a:spcAft>
                <a:spcPts val="1000"/>
              </a:spcAft>
              <a:defRPr sz="1600" b="1">
                <a:solidFill>
                  <a:srgbClr val="336699"/>
                </a:solidFill>
              </a:defRPr>
            </a:pPr>
            <a:r>
              <a:t>• 图片顶边固定在1.45英寸</a:t>
            </a:r>
          </a:p>
          <a:p>
            <a:pPr>
              <a:lnSpc>
                <a:spcPct val="120000"/>
              </a:lnSpc>
              <a:spcAft>
                <a:spcPts val="1000"/>
              </a:spcAft>
              <a:defRPr sz="1600" b="1">
                <a:solidFill>
                  <a:srgbClr val="336699"/>
                </a:solidFill>
              </a:defRPr>
            </a:pPr>
            <a:r>
              <a:t>• 正文自动下移至图片下方</a:t>
            </a:r>
          </a:p>
          <a:p>
            <a:pPr>
              <a:lnSpc>
                <a:spcPct val="120000"/>
              </a:lnSpc>
              <a:spcAft>
                <a:spcPts val="1000"/>
              </a:spcAft>
              <a:defRPr sz="1600" b="1">
                <a:solidFill>
                  <a:srgbClr val="336699"/>
                </a:solidFill>
              </a:defRPr>
            </a:pPr>
            <a:r>
              <a:t>• 正文字号按剩余空间自适应</a:t>
            </a:r>
          </a:p>
        </p:txBody>
      </p:sp>
      <p:pic>
        <p:nvPicPr>
          <p:cNvPr id="12" name="Picture 11" descr="_demo_wide.png"/>
          <p:cNvPicPr>
            <a:picLocks noChangeAspect="1"/>
          </p:cNvPicPr>
          <p:nvPr/>
        </p:nvPicPr>
        <p:blipFill>
          <a:blip r:embed="rId2"/>
          <a:stretch>
            <a:fillRect/>
          </a:stretch>
        </p:blipFill>
        <p:spPr>
          <a:xfrm>
            <a:off x="3901287" y="1325880"/>
            <a:ext cx="4389120" cy="2194560"/>
          </a:xfrm>
          <a:prstGeom prst="rect">
            <a:avLst/>
          </a:prstGeom>
          <a:ln w="15875">
            <a:solidFill>
              <a:srgbClr val="336699"/>
            </a:solidFill>
          </a:ln>
        </p:spPr>
      </p:pic>
    </p:spTree>
  </p:cSld>
  <p:clrMapOvr>
    <a:masterClrMapping/>
  </p:clrMapOvr>
  <p:sldTrans>
    <p:transition advClick="0" advTime="0" soundEnabled="0" loop="1">
      <p:wipeEffect dir="in">
        <p:dur val="200"/>
      </p:wipeEffect>
    </p:transition>
  </p:sldTrans>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Rectangle 20"/>
          <p:cNvSpPr/>
          <p:nvPr/>
        </p:nvSpPr>
        <p:spPr>
          <a:xfrm>
            <a:off x="0" y="0"/>
            <a:ext cx="12191695" cy="6858000"/>
          </a:xfrm>
          <a:prstGeom prst="rect">
            <a:avLst/>
          </a:prstGeom>
          <a:gradFill rotWithShape="1">
            <a:gsLst>
              <a:gs pos="0">
                <a:srgbClr val="FFFFFF"/>
              </a:gs>
              <a:gs pos="100000">
                <a:srgbClr val="E6F0FB"/>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355080"/>
            <a:ext cx="3657600" cy="228600"/>
          </a:xfrm>
          <a:prstGeom prst="rect">
            <a:avLst/>
          </a:prstGeom>
          <a:noFill/>
        </p:spPr>
        <p:txBody>
          <a:bodyPr wrap="none">
            <a:spAutoFit/>
          </a:bodyPr>
          <a:lstStyle/>
          <a:p>
            <a:pPr>
              <a:defRPr sz="1000">
                <a:solidFill>
                  <a:srgbClr val="336699"/>
                </a:solidFill>
              </a:defRPr>
            </a:pPr>
            <a:r>
              <a:t>AutoSlide</a:t>
            </a:r>
          </a:p>
        </p:txBody>
      </p:sp>
      <p:sp>
        <p:nvSpPr>
          <p:cNvPr id="19" name="Oval 18"/>
          <p:cNvSpPr/>
          <p:nvPr/>
        </p:nvSpPr>
        <p:spPr>
          <a:xfrm>
            <a:off x="10515600" y="4389120"/>
            <a:ext cx="1554480" cy="1554480"/>
          </a:xfrm>
          <a:prstGeom prst="ellipse">
            <a:avLst/>
          </a:prstGeom>
          <a:noFill/>
          <a:ln w="31750">
            <a:solidFill>
              <a:srgbClr val="BFD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936224" y="5614416"/>
            <a:ext cx="137160" cy="137160"/>
          </a:xfrm>
          <a:prstGeom prst="ellipse">
            <a:avLst/>
          </a:prstGeom>
          <a:solidFill>
            <a:srgbClr val="32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552176" y="5614416"/>
            <a:ext cx="137160" cy="137160"/>
          </a:xfrm>
          <a:prstGeom prst="ellipse">
            <a:avLst/>
          </a:prstGeom>
          <a:solidFill>
            <a:srgbClr val="32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168128" y="5614416"/>
            <a:ext cx="137160" cy="137160"/>
          </a:xfrm>
          <a:prstGeom prst="ellipse">
            <a:avLst/>
          </a:prstGeom>
          <a:solidFill>
            <a:srgbClr val="32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0" y="5614416"/>
            <a:ext cx="137160" cy="137160"/>
          </a:xfrm>
          <a:prstGeom prst="ellipse">
            <a:avLst/>
          </a:prstGeom>
          <a:solidFill>
            <a:srgbClr val="32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936224" y="5230368"/>
            <a:ext cx="137160" cy="137160"/>
          </a:xfrm>
          <a:prstGeom prst="ellipse">
            <a:avLst/>
          </a:prstGeom>
          <a:solidFill>
            <a:srgbClr val="32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552176" y="5230368"/>
            <a:ext cx="137160" cy="137160"/>
          </a:xfrm>
          <a:prstGeom prst="ellipse">
            <a:avLst/>
          </a:prstGeom>
          <a:solidFill>
            <a:srgbClr val="32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168128" y="5230368"/>
            <a:ext cx="137160" cy="137160"/>
          </a:xfrm>
          <a:prstGeom prst="ellipse">
            <a:avLst/>
          </a:prstGeom>
          <a:solidFill>
            <a:srgbClr val="32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84080" y="5230368"/>
            <a:ext cx="137160" cy="137160"/>
          </a:xfrm>
          <a:prstGeom prst="ellipse">
            <a:avLst/>
          </a:prstGeom>
          <a:solidFill>
            <a:srgbClr val="32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936224" y="4846320"/>
            <a:ext cx="137160" cy="137160"/>
          </a:xfrm>
          <a:prstGeom prst="ellipse">
            <a:avLst/>
          </a:prstGeom>
          <a:solidFill>
            <a:srgbClr val="32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52176" y="4846320"/>
            <a:ext cx="137160" cy="137160"/>
          </a:xfrm>
          <a:prstGeom prst="ellipse">
            <a:avLst/>
          </a:prstGeom>
          <a:solidFill>
            <a:srgbClr val="32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168128" y="4846320"/>
            <a:ext cx="137160" cy="137160"/>
          </a:xfrm>
          <a:prstGeom prst="ellipse">
            <a:avLst/>
          </a:prstGeom>
          <a:solidFill>
            <a:srgbClr val="32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784080" y="4846320"/>
            <a:ext cx="137160" cy="137160"/>
          </a:xfrm>
          <a:prstGeom prst="ellipse">
            <a:avLst/>
          </a:prstGeom>
          <a:solidFill>
            <a:srgbClr val="326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28016"/>
            <a:ext cx="128016" cy="672998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2801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411480"/>
            <a:ext cx="10881360" cy="868680"/>
          </a:xfrm>
        </p:spPr>
        <p:txBody>
          <a:bodyPr wrap="square"/>
          <a:lstStyle/>
          <a:p>
            <a:pPr algn="l">
              <a:defRPr sz="3400" b="1">
                <a:solidFill>
                  <a:srgbClr val="003366"/>
                </a:solidFill>
              </a:defRPr>
            </a:pPr>
            <a:r>
              <a:t>双栏对比 + 右图</a:t>
            </a:r>
          </a:p>
        </p:txBody>
      </p:sp>
      <p:sp>
        <p:nvSpPr>
          <p:cNvPr id="3" name="Content Placeholder 2"/>
          <p:cNvSpPr>
            <a:spLocks noGrp="1"/>
          </p:cNvSpPr>
          <p:nvPr>
            <p:ph idx="1" sz="half"/>
          </p:nvPr>
        </p:nvSpPr>
        <p:spPr>
          <a:xfrm>
            <a:off x="640080" y="1371600"/>
            <a:ext cx="3215487" cy="4983480"/>
          </a:xfrm>
        </p:spPr>
        <p:txBody>
          <a:bodyPr wrap="square"/>
          <a:lstStyle/>
          <a:p>
            <a:pPr>
              <a:lnSpc>
                <a:spcPct val="130000"/>
              </a:lnSpc>
              <a:spcAft>
                <a:spcPts val="1400"/>
              </a:spcAft>
              <a:defRPr sz="1600">
                <a:solidFill>
                  <a:srgbClr val="282828"/>
                </a:solidFill>
              </a:defRPr>
            </a:pPr>
            <a:r>
              <a:t>双栏布局在图片存在时自动在安全区内均分两栏，栏间距0.4英寸，两栏互不重叠。</a:t>
            </a:r>
          </a:p>
          <a:p>
            <a:pPr>
              <a:lnSpc>
                <a:spcPct val="120000"/>
              </a:lnSpc>
              <a:spcAft>
                <a:spcPts val="1000"/>
              </a:spcAft>
              <a:defRPr sz="1800" b="1">
                <a:solidFill>
                  <a:srgbClr val="336699"/>
                </a:solidFill>
              </a:defRPr>
            </a:pPr>
            <a:r>
              <a:t>• 左栏：技术路线纵深发展，聚焦算法与系统架构能力的持续打磨</a:t>
            </a:r>
          </a:p>
          <a:p>
            <a:pPr>
              <a:lnSpc>
                <a:spcPct val="120000"/>
              </a:lnSpc>
              <a:spcAft>
                <a:spcPts val="1000"/>
              </a:spcAft>
              <a:defRPr sz="1800" b="1">
                <a:solidFill>
                  <a:srgbClr val="336699"/>
                </a:solidFill>
              </a:defRPr>
            </a:pPr>
            <a:r>
              <a:t>• 左栏：参与开源社区贡献，通过真实项目积累工程实践经验</a:t>
            </a:r>
          </a:p>
        </p:txBody>
      </p:sp>
      <p:sp>
        <p:nvSpPr>
          <p:cNvPr id="4" name="Content Placeholder 3"/>
          <p:cNvSpPr>
            <a:spLocks noGrp="1"/>
          </p:cNvSpPr>
          <p:nvPr>
            <p:ph idx="2" sz="half"/>
          </p:nvPr>
        </p:nvSpPr>
        <p:spPr>
          <a:xfrm>
            <a:off x="4221327" y="1371600"/>
            <a:ext cx="3215487" cy="4983480"/>
          </a:xfrm>
        </p:spPr>
        <p:txBody>
          <a:bodyPr wrap="square"/>
          <a:lstStyle/>
          <a:p>
            <a:pPr>
              <a:lnSpc>
                <a:spcPct val="120000"/>
              </a:lnSpc>
              <a:spcAft>
                <a:spcPts val="1000"/>
              </a:spcAft>
              <a:defRPr sz="1800" b="1">
                <a:solidFill>
                  <a:srgbClr val="336699"/>
                </a:solidFill>
              </a:defRPr>
            </a:pPr>
            <a:r>
              <a:t>• 右栏：管理路线横向拓展，锻炼团队协作与资源整合能力</a:t>
            </a:r>
          </a:p>
          <a:p>
            <a:pPr>
              <a:lnSpc>
                <a:spcPct val="120000"/>
              </a:lnSpc>
              <a:spcAft>
                <a:spcPts val="1000"/>
              </a:spcAft>
              <a:defRPr sz="1800" b="1">
                <a:solidFill>
                  <a:srgbClr val="336699"/>
                </a:solidFill>
              </a:defRPr>
            </a:pPr>
            <a:r>
              <a:t>• 右栏：复合路线T型发展，兼顾专业深度与视野广度</a:t>
            </a:r>
          </a:p>
        </p:txBody>
      </p:sp>
      <p:sp>
        <p:nvSpPr>
          <p:cNvPr id="22" name="Rectangle 21"/>
          <p:cNvSpPr/>
          <p:nvPr/>
        </p:nvSpPr>
        <p:spPr>
          <a:xfrm>
            <a:off x="658368" y="1207008"/>
            <a:ext cx="2011680" cy="54864"/>
          </a:xfrm>
          <a:prstGeom prst="rect">
            <a:avLst/>
          </a:prstGeom>
          <a:solidFill>
            <a:srgbClr val="33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_demo_wide.png"/>
          <p:cNvPicPr>
            <a:picLocks noChangeAspect="1"/>
          </p:cNvPicPr>
          <p:nvPr/>
        </p:nvPicPr>
        <p:blipFill>
          <a:blip r:embed="rId2"/>
          <a:stretch>
            <a:fillRect/>
          </a:stretch>
        </p:blipFill>
        <p:spPr>
          <a:xfrm>
            <a:off x="7802575" y="2400300"/>
            <a:ext cx="4114800" cy="2057400"/>
          </a:xfrm>
          <a:prstGeom prst="rect">
            <a:avLst/>
          </a:prstGeom>
          <a:ln w="15875">
            <a:solidFill>
              <a:srgbClr val="336699"/>
            </a:solidFill>
          </a:ln>
        </p:spPr>
      </p:pic>
    </p:spTree>
  </p:cSld>
  <p:clrMapOvr>
    <a:masterClrMapping/>
  </p:clrMapOvr>
  <p:sldTrans>
    <p:transition advClick="0" advTime="0" soundEnabled="0" loop="1">
      <p:dissolveEffect dir="in">
        <p:dur val="100"/>
      </p:dissolveEffect>
    </p:transition>
  </p:sldTrans>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p:cNvSpPr/>
          <p:nvPr/>
        </p:nvSpPr>
        <p:spPr>
          <a:xfrm>
            <a:off x="0" y="0"/>
            <a:ext cx="12191695" cy="6858000"/>
          </a:xfrm>
          <a:prstGeom prst="rect">
            <a:avLst/>
          </a:prstGeom>
          <a:gradFill rotWithShape="1">
            <a:gsLst>
              <a:gs pos="0">
                <a:srgbClr val="FFFFFF"/>
              </a:gs>
              <a:gs pos="100000">
                <a:srgbClr val="E6F0FB"/>
              </a:gs>
            </a:gsLst>
            <a:lin ang="27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355080"/>
            <a:ext cx="3657600" cy="228600"/>
          </a:xfrm>
          <a:prstGeom prst="rect">
            <a:avLst/>
          </a:prstGeom>
          <a:noFill/>
        </p:spPr>
        <p:txBody>
          <a:bodyPr wrap="none">
            <a:spAutoFit/>
          </a:bodyPr>
          <a:lstStyle/>
          <a:p>
            <a:pPr>
              <a:defRPr sz="1000">
                <a:solidFill>
                  <a:srgbClr val="336699"/>
                </a:solidFill>
              </a:defRPr>
            </a:pPr>
            <a:r>
              <a:t>AutoSlide</a:t>
            </a:r>
          </a:p>
        </p:txBody>
      </p:sp>
      <p:sp>
        <p:nvSpPr>
          <p:cNvPr id="8" name="Oval 7"/>
          <p:cNvSpPr/>
          <p:nvPr/>
        </p:nvSpPr>
        <p:spPr>
          <a:xfrm>
            <a:off x="8464574" y="5971802"/>
            <a:ext cx="1474192" cy="1315670"/>
          </a:xfrm>
          <a:prstGeom prst="ellipse">
            <a:avLst/>
          </a:prstGeom>
          <a:solidFill>
            <a:srgbClr val="D1E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2394" y="4761353"/>
            <a:ext cx="2684178" cy="3033171"/>
          </a:xfrm>
          <a:prstGeom prst="ellipse">
            <a:avLst/>
          </a:prstGeom>
          <a:solidFill>
            <a:srgbClr val="C9D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28016"/>
            <a:ext cx="128016" cy="672998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2801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411480"/>
            <a:ext cx="10881360" cy="868680"/>
          </a:xfrm>
        </p:spPr>
        <p:txBody>
          <a:bodyPr wrap="square"/>
          <a:lstStyle/>
          <a:p>
            <a:pPr algn="l">
              <a:defRPr sz="3400" b="1">
                <a:solidFill>
                  <a:srgbClr val="003366"/>
                </a:solidFill>
              </a:defRPr>
            </a:pPr>
            <a:r>
              <a:t>双栏无图 · 对称边距验证</a:t>
            </a:r>
          </a:p>
        </p:txBody>
      </p:sp>
      <p:sp>
        <p:nvSpPr>
          <p:cNvPr id="3" name="Content Placeholder 2"/>
          <p:cNvSpPr>
            <a:spLocks noGrp="1"/>
          </p:cNvSpPr>
          <p:nvPr>
            <p:ph idx="1" sz="half"/>
          </p:nvPr>
        </p:nvSpPr>
        <p:spPr>
          <a:xfrm>
            <a:off x="640080" y="1371600"/>
            <a:ext cx="5272887" cy="4983480"/>
          </a:xfrm>
        </p:spPr>
        <p:txBody>
          <a:bodyPr wrap="square"/>
          <a:lstStyle/>
          <a:p>
            <a:pPr>
              <a:lnSpc>
                <a:spcPct val="130000"/>
              </a:lnSpc>
              <a:spcAft>
                <a:spcPts val="1400"/>
              </a:spcAft>
              <a:defRPr sz="1600">
                <a:solidFill>
                  <a:srgbClr val="282828"/>
                </a:solidFill>
              </a:defRPr>
            </a:pPr>
            <a:r>
              <a:t>无图双栏不再依赖模板默认占位符几何，显式采用与单栏一致的安全边距标准，左右完全对称。</a:t>
            </a:r>
          </a:p>
          <a:p>
            <a:pPr>
              <a:lnSpc>
                <a:spcPct val="120000"/>
              </a:lnSpc>
              <a:spcAft>
                <a:spcPts val="1000"/>
              </a:spcAft>
              <a:defRPr sz="1800" b="1">
                <a:solidFill>
                  <a:srgbClr val="336699"/>
                </a:solidFill>
              </a:defRPr>
            </a:pPr>
            <a:r>
              <a:t>• 左栏与右栏均使用统一的0.7英寸侧边距</a:t>
            </a:r>
          </a:p>
          <a:p>
            <a:pPr>
              <a:lnSpc>
                <a:spcPct val="120000"/>
              </a:lnSpc>
              <a:spcAft>
                <a:spcPts val="1000"/>
              </a:spcAft>
              <a:defRPr sz="1800" b="1">
                <a:solidFill>
                  <a:srgbClr val="336699"/>
                </a:solidFill>
              </a:defRPr>
            </a:pPr>
            <a:r>
              <a:t>• 栏间距0.4英寸，底部留0.55英寸安全边距</a:t>
            </a:r>
          </a:p>
        </p:txBody>
      </p:sp>
      <p:sp>
        <p:nvSpPr>
          <p:cNvPr id="4" name="Content Placeholder 3"/>
          <p:cNvSpPr>
            <a:spLocks noGrp="1"/>
          </p:cNvSpPr>
          <p:nvPr>
            <p:ph idx="2" sz="half"/>
          </p:nvPr>
        </p:nvSpPr>
        <p:spPr>
          <a:xfrm>
            <a:off x="6278727" y="1371600"/>
            <a:ext cx="5272887" cy="4983480"/>
          </a:xfrm>
        </p:spPr>
        <p:txBody>
          <a:bodyPr wrap="square"/>
          <a:lstStyle/>
          <a:p>
            <a:pPr>
              <a:lnSpc>
                <a:spcPct val="120000"/>
              </a:lnSpc>
              <a:spcAft>
                <a:spcPts val="1000"/>
              </a:spcAft>
              <a:defRPr sz="1800" b="1">
                <a:solidFill>
                  <a:srgbClr val="336699"/>
                </a:solidFill>
              </a:defRPr>
            </a:pPr>
            <a:r>
              <a:t>• 模板默认的0.5英寸贴边布局已被替换</a:t>
            </a:r>
          </a:p>
          <a:p>
            <a:pPr>
              <a:lnSpc>
                <a:spcPct val="120000"/>
              </a:lnSpc>
              <a:spcAft>
                <a:spcPts val="1000"/>
              </a:spcAft>
              <a:defRPr sz="1800" b="1">
                <a:solidFill>
                  <a:srgbClr val="336699"/>
                </a:solidFill>
              </a:defRPr>
            </a:pPr>
            <a:r>
              <a:t>• 本页用于验证无图双栏的边距一致性</a:t>
            </a:r>
          </a:p>
        </p:txBody>
      </p:sp>
      <p:sp>
        <p:nvSpPr>
          <p:cNvPr id="11" name="Rectangle 10"/>
          <p:cNvSpPr/>
          <p:nvPr/>
        </p:nvSpPr>
        <p:spPr>
          <a:xfrm>
            <a:off x="658368" y="1207008"/>
            <a:ext cx="2011680" cy="54864"/>
          </a:xfrm>
          <a:prstGeom prst="rect">
            <a:avLst/>
          </a:prstGeom>
          <a:solidFill>
            <a:srgbClr val="33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Trans>
    <p:transition advClick="0" advTime="0" soundEnabled="0" loop="1">
      <p:uncoverEffect dir="in">
        <p:dur val="200"/>
      </p:uncoverEffect>
    </p:transition>
  </p:sldTrans>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Rectangle 16"/>
          <p:cNvSpPr/>
          <p:nvPr/>
        </p:nvSpPr>
        <p:spPr>
          <a:xfrm>
            <a:off x="0" y="0"/>
            <a:ext cx="12191695" cy="6858000"/>
          </a:xfrm>
          <a:prstGeom prst="rect">
            <a:avLst/>
          </a:prstGeom>
          <a:gradFill rotWithShape="1">
            <a:gsLst>
              <a:gs pos="0">
                <a:srgbClr val="FFFFFF"/>
              </a:gs>
              <a:gs pos="100000">
                <a:srgbClr val="E6F0FB"/>
              </a:gs>
            </a:gsLst>
            <a:lin ang="81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355080"/>
            <a:ext cx="3657600" cy="228600"/>
          </a:xfrm>
          <a:prstGeom prst="rect">
            <a:avLst/>
          </a:prstGeom>
          <a:noFill/>
        </p:spPr>
        <p:txBody>
          <a:bodyPr wrap="none">
            <a:spAutoFit/>
          </a:bodyPr>
          <a:lstStyle/>
          <a:p>
            <a:pPr>
              <a:defRPr sz="1000">
                <a:solidFill>
                  <a:srgbClr val="336699"/>
                </a:solidFill>
              </a:defRPr>
            </a:pPr>
            <a:r>
              <a:t>AutoSlide</a:t>
            </a:r>
          </a:p>
        </p:txBody>
      </p:sp>
      <p:sp>
        <p:nvSpPr>
          <p:cNvPr id="15" name="Oval 14"/>
          <p:cNvSpPr/>
          <p:nvPr/>
        </p:nvSpPr>
        <p:spPr>
          <a:xfrm>
            <a:off x="10515600" y="4389120"/>
            <a:ext cx="1554480" cy="1554480"/>
          </a:xfrm>
          <a:prstGeom prst="ellipse">
            <a:avLst/>
          </a:prstGeom>
          <a:noFill/>
          <a:ln w="31750">
            <a:solidFill>
              <a:srgbClr val="D2E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52176" y="5614416"/>
            <a:ext cx="137160" cy="137160"/>
          </a:xfrm>
          <a:prstGeom prst="ellipse">
            <a:avLst/>
          </a:prstGeom>
          <a:solidFill>
            <a:srgbClr val="356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168128" y="5614416"/>
            <a:ext cx="137160" cy="137160"/>
          </a:xfrm>
          <a:prstGeom prst="ellipse">
            <a:avLst/>
          </a:prstGeom>
          <a:solidFill>
            <a:srgbClr val="356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784080" y="5614416"/>
            <a:ext cx="137160" cy="137160"/>
          </a:xfrm>
          <a:prstGeom prst="ellipse">
            <a:avLst/>
          </a:prstGeom>
          <a:solidFill>
            <a:srgbClr val="356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552176" y="5230368"/>
            <a:ext cx="137160" cy="137160"/>
          </a:xfrm>
          <a:prstGeom prst="ellipse">
            <a:avLst/>
          </a:prstGeom>
          <a:solidFill>
            <a:srgbClr val="356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168128" y="5230368"/>
            <a:ext cx="137160" cy="137160"/>
          </a:xfrm>
          <a:prstGeom prst="ellipse">
            <a:avLst/>
          </a:prstGeom>
          <a:solidFill>
            <a:srgbClr val="356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0" y="5230368"/>
            <a:ext cx="137160" cy="137160"/>
          </a:xfrm>
          <a:prstGeom prst="ellipse">
            <a:avLst/>
          </a:prstGeom>
          <a:solidFill>
            <a:srgbClr val="356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552176" y="4846320"/>
            <a:ext cx="137160" cy="137160"/>
          </a:xfrm>
          <a:prstGeom prst="ellipse">
            <a:avLst/>
          </a:prstGeom>
          <a:solidFill>
            <a:srgbClr val="356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168128" y="4846320"/>
            <a:ext cx="137160" cy="137160"/>
          </a:xfrm>
          <a:prstGeom prst="ellipse">
            <a:avLst/>
          </a:prstGeom>
          <a:solidFill>
            <a:srgbClr val="356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784080" y="4846320"/>
            <a:ext cx="137160" cy="137160"/>
          </a:xfrm>
          <a:prstGeom prst="ellipse">
            <a:avLst/>
          </a:prstGeom>
          <a:solidFill>
            <a:srgbClr val="356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016"/>
            <a:ext cx="128016" cy="672998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2801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411480"/>
            <a:ext cx="10881360" cy="868680"/>
          </a:xfrm>
        </p:spPr>
        <p:txBody>
          <a:bodyPr wrap="square"/>
          <a:lstStyle/>
          <a:p>
            <a:pPr algn="l">
              <a:defRPr sz="2200" b="1">
                <a:solidFill>
                  <a:srgbClr val="003366"/>
                </a:solidFill>
              </a:defRPr>
            </a:pPr>
            <a:r>
              <a:t>极端内容量压力测试：本页包含十二个要点与超长正文，用于验证字号两级自适应机制能否保证所有文字都留在幻灯片边界内</a:t>
            </a:r>
          </a:p>
        </p:txBody>
      </p:sp>
      <p:sp>
        <p:nvSpPr>
          <p:cNvPr id="3" name="Content Placeholder 2"/>
          <p:cNvSpPr>
            <a:spLocks noGrp="1"/>
          </p:cNvSpPr>
          <p:nvPr>
            <p:ph idx="1"/>
          </p:nvPr>
        </p:nvSpPr>
        <p:spPr/>
        <p:txBody>
          <a:bodyPr/>
          <a:lstStyle/>
          <a:p/>
        </p:txBody>
      </p:sp>
      <p:sp>
        <p:nvSpPr>
          <p:cNvPr id="18" name="Rectangle 17"/>
          <p:cNvSpPr/>
          <p:nvPr/>
        </p:nvSpPr>
        <p:spPr>
          <a:xfrm>
            <a:off x="658368" y="1207008"/>
            <a:ext cx="2011680" cy="54864"/>
          </a:xfrm>
          <a:prstGeom prst="rect">
            <a:avLst/>
          </a:prstGeom>
          <a:solidFill>
            <a:srgbClr val="33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1371600"/>
            <a:ext cx="10881360" cy="4983480"/>
          </a:xfrm>
          <a:prstGeom prst="rect">
            <a:avLst/>
          </a:prstGeom>
          <a:noFill/>
        </p:spPr>
        <p:txBody>
          <a:bodyPr wrap="square">
            <a:normAutofit/>
          </a:bodyPr>
          <a:lstStyle/>
          <a:p>
            <a:pPr>
              <a:lnSpc>
                <a:spcPct val="130000"/>
              </a:lnSpc>
              <a:spcAft>
                <a:spcPts val="1400"/>
              </a:spcAft>
              <a:defRPr sz="1200">
                <a:solidFill>
                  <a:srgbClr val="282828"/>
                </a:solidFill>
              </a:defRPr>
            </a:pPr>
            <a:r>
              <a:t>本页正文长度远超常规幻灯片：详细段落重复多轮并配合十二个长要点，排版引擎应当自动缩小字号并启用紧凑行距，确保所有内容完整显示在文本框内而不越出幻灯片底部边界。</a:t>
            </a:r>
          </a:p>
          <a:p>
            <a:pPr>
              <a:lnSpc>
                <a:spcPct val="120000"/>
              </a:lnSpc>
              <a:spcAft>
                <a:spcPts val="1000"/>
              </a:spcAft>
              <a:defRPr sz="1400" b="1">
                <a:solidFill>
                  <a:srgbClr val="336699"/>
                </a:solidFill>
              </a:defRPr>
            </a:pPr>
            <a:r>
              <a:t>• 压力测试要点1：这是一条用于验证自适应字号算法的较长要点文本，包含足够多的字符以触发换行计算</a:t>
            </a:r>
          </a:p>
          <a:p>
            <a:pPr>
              <a:lnSpc>
                <a:spcPct val="120000"/>
              </a:lnSpc>
              <a:spcAft>
                <a:spcPts val="1000"/>
              </a:spcAft>
              <a:defRPr sz="1400" b="1">
                <a:solidFill>
                  <a:srgbClr val="336699"/>
                </a:solidFill>
              </a:defRPr>
            </a:pPr>
            <a:r>
              <a:t>• 压力测试要点2：这是一条用于验证自适应字号算法的较长要点文本，包含足够多的字符以触发换行计算</a:t>
            </a:r>
          </a:p>
          <a:p>
            <a:pPr>
              <a:lnSpc>
                <a:spcPct val="120000"/>
              </a:lnSpc>
              <a:spcAft>
                <a:spcPts val="1000"/>
              </a:spcAft>
              <a:defRPr sz="1400" b="1">
                <a:solidFill>
                  <a:srgbClr val="336699"/>
                </a:solidFill>
              </a:defRPr>
            </a:pPr>
            <a:r>
              <a:t>• 压力测试要点3：这是一条用于验证自适应字号算法的较长要点文本，包含足够多的字符以触发换行计算</a:t>
            </a:r>
          </a:p>
          <a:p>
            <a:pPr>
              <a:lnSpc>
                <a:spcPct val="120000"/>
              </a:lnSpc>
              <a:spcAft>
                <a:spcPts val="1000"/>
              </a:spcAft>
              <a:defRPr sz="1400" b="1">
                <a:solidFill>
                  <a:srgbClr val="336699"/>
                </a:solidFill>
              </a:defRPr>
            </a:pPr>
            <a:r>
              <a:t>• 压力测试要点4：这是一条用于验证自适应字号算法的较长要点文本，包含足够多的字符以触发换行计算</a:t>
            </a:r>
          </a:p>
          <a:p>
            <a:pPr>
              <a:lnSpc>
                <a:spcPct val="120000"/>
              </a:lnSpc>
              <a:spcAft>
                <a:spcPts val="1000"/>
              </a:spcAft>
              <a:defRPr sz="1400" b="1">
                <a:solidFill>
                  <a:srgbClr val="336699"/>
                </a:solidFill>
              </a:defRPr>
            </a:pPr>
            <a:r>
              <a:t>• 压力测试要点5：这是一条用于验证自适应字号算法的较长要点文本，包含足够多的字符以触发换行计算</a:t>
            </a:r>
          </a:p>
          <a:p>
            <a:pPr>
              <a:lnSpc>
                <a:spcPct val="120000"/>
              </a:lnSpc>
              <a:spcAft>
                <a:spcPts val="1000"/>
              </a:spcAft>
              <a:defRPr sz="1400" b="1">
                <a:solidFill>
                  <a:srgbClr val="336699"/>
                </a:solidFill>
              </a:defRPr>
            </a:pPr>
            <a:r>
              <a:t>• 压力测试要点6：这是一条用于验证自适应字号算法的较长要点文本，包含足够多的字符以触发换行计算</a:t>
            </a:r>
          </a:p>
          <a:p>
            <a:pPr>
              <a:lnSpc>
                <a:spcPct val="120000"/>
              </a:lnSpc>
              <a:spcAft>
                <a:spcPts val="1000"/>
              </a:spcAft>
              <a:defRPr sz="1400" b="1">
                <a:solidFill>
                  <a:srgbClr val="336699"/>
                </a:solidFill>
              </a:defRPr>
            </a:pPr>
            <a:r>
              <a:t>• 压力测试要点7：这是一条用于验证自适应字号算法的较长要点文本，包含足够多的字符以触发换行计算</a:t>
            </a:r>
          </a:p>
          <a:p>
            <a:pPr>
              <a:lnSpc>
                <a:spcPct val="120000"/>
              </a:lnSpc>
              <a:spcAft>
                <a:spcPts val="1000"/>
              </a:spcAft>
              <a:defRPr sz="1400" b="1">
                <a:solidFill>
                  <a:srgbClr val="336699"/>
                </a:solidFill>
              </a:defRPr>
            </a:pPr>
            <a:r>
              <a:t>• 压力测试要点8：这是一条用于验证自适应字号算法的较长要点文本，包含足够多的字符以触发换行计算</a:t>
            </a:r>
          </a:p>
          <a:p>
            <a:pPr>
              <a:lnSpc>
                <a:spcPct val="120000"/>
              </a:lnSpc>
              <a:spcAft>
                <a:spcPts val="1000"/>
              </a:spcAft>
              <a:defRPr sz="1400" b="1">
                <a:solidFill>
                  <a:srgbClr val="336699"/>
                </a:solidFill>
              </a:defRPr>
            </a:pPr>
            <a:r>
              <a:t>• 压力测试要点9：这是一条用于验证自适应字号算法的较长要点文本，包含足够多的字符以触发换行计算</a:t>
            </a:r>
          </a:p>
          <a:p>
            <a:pPr>
              <a:lnSpc>
                <a:spcPct val="120000"/>
              </a:lnSpc>
              <a:spcAft>
                <a:spcPts val="1000"/>
              </a:spcAft>
              <a:defRPr sz="1400" b="1">
                <a:solidFill>
                  <a:srgbClr val="336699"/>
                </a:solidFill>
              </a:defRPr>
            </a:pPr>
            <a:r>
              <a:t>• 压力测试要点10：这是一条用于验证自适应字号算法的较长要点文本，包含足够多的字符以触发换行计算</a:t>
            </a:r>
          </a:p>
          <a:p>
            <a:pPr>
              <a:lnSpc>
                <a:spcPct val="120000"/>
              </a:lnSpc>
              <a:spcAft>
                <a:spcPts val="1000"/>
              </a:spcAft>
              <a:defRPr sz="1400" b="1">
                <a:solidFill>
                  <a:srgbClr val="336699"/>
                </a:solidFill>
              </a:defRPr>
            </a:pPr>
            <a:r>
              <a:t>• 压力测试要点11：这是一条用于验证自适应字号算法的较长要点文本，包含足够多的字符以触发换行计算</a:t>
            </a:r>
          </a:p>
          <a:p>
            <a:pPr>
              <a:lnSpc>
                <a:spcPct val="120000"/>
              </a:lnSpc>
              <a:spcAft>
                <a:spcPts val="1000"/>
              </a:spcAft>
              <a:defRPr sz="1400" b="1">
                <a:solidFill>
                  <a:srgbClr val="336699"/>
                </a:solidFill>
              </a:defRPr>
            </a:pPr>
            <a:r>
              <a:t>• 压力测试要点12：这是一条用于验证自适应字号算法的较长要点文本，包含足够多的字符以触发换行计算</a:t>
            </a:r>
          </a:p>
        </p:txBody>
      </p:sp>
    </p:spTree>
  </p:cSld>
  <p:clrMapOvr>
    <a:masterClrMapping/>
  </p:clrMapOvr>
  <p:sldTrans>
    <p:transition advClick="0" advTime="0" soundEnabled="0" loop="1">
      <p:fadeEffect dir="in">
        <p:dur val="200"/>
      </p:fadeEffect>
    </p:transition>
  </p:sldTrans>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angle 12"/>
          <p:cNvSpPr/>
          <p:nvPr/>
        </p:nvSpPr>
        <p:spPr>
          <a:xfrm>
            <a:off x="0" y="0"/>
            <a:ext cx="12191695" cy="6858000"/>
          </a:xfrm>
          <a:prstGeom prst="rect">
            <a:avLst/>
          </a:prstGeom>
          <a:gradFill rotWithShape="1">
            <a:gsLst>
              <a:gs pos="0">
                <a:srgbClr val="FFFFFF"/>
              </a:gs>
              <a:gs pos="100000">
                <a:srgbClr val="E6F0FB"/>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55080"/>
            <a:ext cx="3657600" cy="228600"/>
          </a:xfrm>
          <a:prstGeom prst="rect">
            <a:avLst/>
          </a:prstGeom>
          <a:noFill/>
        </p:spPr>
        <p:txBody>
          <a:bodyPr wrap="none">
            <a:spAutoFit/>
          </a:bodyPr>
          <a:lstStyle/>
          <a:p>
            <a:pPr>
              <a:defRPr sz="1000">
                <a:solidFill>
                  <a:srgbClr val="336699"/>
                </a:solidFill>
              </a:defRPr>
            </a:pPr>
            <a:r>
              <a:t>AutoSlide</a:t>
            </a:r>
          </a:p>
        </p:txBody>
      </p:sp>
      <p:sp>
        <p:nvSpPr>
          <p:cNvPr id="11" name="Oval 10"/>
          <p:cNvSpPr/>
          <p:nvPr/>
        </p:nvSpPr>
        <p:spPr>
          <a:xfrm>
            <a:off x="636999" y="668550"/>
            <a:ext cx="310896" cy="310896"/>
          </a:xfrm>
          <a:prstGeom prst="ellipse">
            <a:avLst/>
          </a:prstGeom>
          <a:solidFill>
            <a:srgbClr val="C4D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326880" y="6309360"/>
            <a:ext cx="2310467" cy="64008"/>
          </a:xfrm>
          <a:prstGeom prst="rect">
            <a:avLst/>
          </a:prstGeom>
          <a:solidFill>
            <a:srgbClr val="CBD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5989320"/>
            <a:ext cx="1635498" cy="64008"/>
          </a:xfrm>
          <a:prstGeom prst="rect">
            <a:avLst/>
          </a:prstGeom>
          <a:solidFill>
            <a:srgbClr val="CBD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326880" y="5669280"/>
            <a:ext cx="2221280" cy="64008"/>
          </a:xfrm>
          <a:prstGeom prst="rect">
            <a:avLst/>
          </a:prstGeom>
          <a:solidFill>
            <a:srgbClr val="CBD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26880" y="5349240"/>
            <a:ext cx="2295559" cy="64008"/>
          </a:xfrm>
          <a:prstGeom prst="rect">
            <a:avLst/>
          </a:prstGeom>
          <a:solidFill>
            <a:srgbClr val="CBD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326880" y="5029200"/>
            <a:ext cx="1822880" cy="64008"/>
          </a:xfrm>
          <a:prstGeom prst="rect">
            <a:avLst/>
          </a:prstGeom>
          <a:solidFill>
            <a:srgbClr val="396C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016"/>
            <a:ext cx="128016" cy="672998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2801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411480"/>
            <a:ext cx="10881360" cy="868680"/>
          </a:xfrm>
        </p:spPr>
        <p:txBody>
          <a:bodyPr wrap="square"/>
          <a:lstStyle/>
          <a:p>
            <a:pPr algn="l">
              <a:defRPr sz="3400" b="1">
                <a:solidFill>
                  <a:srgbClr val="003366"/>
                </a:solidFill>
              </a:defRPr>
            </a:pPr>
            <a:r>
              <a:t>参考文献</a:t>
            </a:r>
          </a:p>
        </p:txBody>
      </p:sp>
      <p:sp>
        <p:nvSpPr>
          <p:cNvPr id="3" name="Content Placeholder 2"/>
          <p:cNvSpPr>
            <a:spLocks noGrp="1"/>
          </p:cNvSpPr>
          <p:nvPr>
            <p:ph idx="1"/>
          </p:nvPr>
        </p:nvSpPr>
        <p:spPr/>
        <p:txBody>
          <a:bodyPr/>
          <a:lstStyle/>
          <a:p/>
        </p:txBody>
      </p:sp>
      <p:sp>
        <p:nvSpPr>
          <p:cNvPr id="14" name="Rectangle 13"/>
          <p:cNvSpPr/>
          <p:nvPr/>
        </p:nvSpPr>
        <p:spPr>
          <a:xfrm>
            <a:off x="658368" y="1207008"/>
            <a:ext cx="2011680" cy="54864"/>
          </a:xfrm>
          <a:prstGeom prst="rect">
            <a:avLst/>
          </a:prstGeom>
          <a:solidFill>
            <a:srgbClr val="33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371600"/>
            <a:ext cx="10881360" cy="4983480"/>
          </a:xfrm>
          <a:prstGeom prst="rect">
            <a:avLst/>
          </a:prstGeom>
          <a:noFill/>
        </p:spPr>
        <p:txBody>
          <a:bodyPr wrap="square">
            <a:spAutoFit/>
          </a:bodyPr>
          <a:lstStyle/>
          <a:p>
            <a:pPr>
              <a:lnSpc>
                <a:spcPct val="115000"/>
              </a:lnSpc>
              <a:spcAft>
                <a:spcPts val="800"/>
              </a:spcAft>
              <a:defRPr sz="1200" b="0">
                <a:solidFill>
                  <a:srgbClr val="282828"/>
                </a:solidFill>
              </a:defRPr>
            </a:pPr>
            <a:r>
              <a:t>[1] Knuth D E. The Art of Computer Programming[M]. Addison-Wesley, 2011.</a:t>
            </a:r>
          </a:p>
          <a:p>
            <a:pPr>
              <a:lnSpc>
                <a:spcPct val="115000"/>
              </a:lnSpc>
              <a:spcAft>
                <a:spcPts val="800"/>
              </a:spcAft>
              <a:defRPr sz="1200" b="0">
                <a:solidFill>
                  <a:srgbClr val="282828"/>
                </a:solidFill>
              </a:defRPr>
            </a:pPr>
            <a:r>
              <a:t>[2] Sommerville I. Software Engineering[M]. 10th ed. Pearson, 2015.</a:t>
            </a:r>
          </a:p>
          <a:p>
            <a:pPr>
              <a:lnSpc>
                <a:spcPct val="115000"/>
              </a:lnSpc>
              <a:spcAft>
                <a:spcPts val="800"/>
              </a:spcAft>
              <a:defRPr sz="1200" b="0">
                <a:solidFill>
                  <a:srgbClr val="282828"/>
                </a:solidFill>
              </a:defRPr>
            </a:pPr>
            <a:r>
              <a:t>[3] CCF计算机竞赛工作组. 算法竞赛入门经典（第2版）[M]. 清华大学出版社, 2019.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